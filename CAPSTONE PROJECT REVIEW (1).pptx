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8288000" cy="10287000"/>
  <p:notesSz cx="6858000" cy="9144000"/>
  <p:embeddedFontLst>
    <p:embeddedFont>
      <p:font typeface="Poppins" panose="020B0502040204020203" pitchFamily="2" charset="0"/>
      <p:regular r:id="rId7"/>
    </p:embeddedFont>
    <p:embeddedFont>
      <p:font typeface="Poppins Bold" panose="020B0604020202020204" charset="0"/>
      <p:regular r:id="rId8"/>
    </p:embeddedFont>
    <p:embeddedFont>
      <p:font typeface="Poppins Semi-Bold" panose="020B0604020202020204" charset="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500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E07C87-E61D-4770-AC28-B50F31D33378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345A27-7D9B-49F5-9B03-EBDC2D442E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7568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45A27-7D9B-49F5-9B03-EBDC2D442E7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0255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3183" y="9121463"/>
            <a:ext cx="136837" cy="136837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1C2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0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13183" y="8824880"/>
            <a:ext cx="136837" cy="13683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1C2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01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13183" y="8528298"/>
            <a:ext cx="136837" cy="13683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1C2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01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5854815" y="9121463"/>
            <a:ext cx="2193286" cy="1108097"/>
          </a:xfrm>
          <a:custGeom>
            <a:avLst/>
            <a:gdLst/>
            <a:ahLst/>
            <a:cxnLst/>
            <a:rect l="l" t="t" r="r" b="b"/>
            <a:pathLst>
              <a:path w="2193286" h="1108097">
                <a:moveTo>
                  <a:pt x="0" y="0"/>
                </a:moveTo>
                <a:lnTo>
                  <a:pt x="2193286" y="0"/>
                </a:lnTo>
                <a:lnTo>
                  <a:pt x="2193286" y="1108096"/>
                </a:lnTo>
                <a:lnTo>
                  <a:pt x="0" y="11080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9113" b="-5881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Freeform 12"/>
          <p:cNvSpPr/>
          <p:nvPr/>
        </p:nvSpPr>
        <p:spPr>
          <a:xfrm>
            <a:off x="11523222" y="3233064"/>
            <a:ext cx="5584124" cy="3340177"/>
          </a:xfrm>
          <a:custGeom>
            <a:avLst/>
            <a:gdLst/>
            <a:ahLst/>
            <a:cxnLst/>
            <a:rect l="l" t="t" r="r" b="b"/>
            <a:pathLst>
              <a:path w="5584124" h="3340177">
                <a:moveTo>
                  <a:pt x="0" y="0"/>
                </a:moveTo>
                <a:lnTo>
                  <a:pt x="5584124" y="0"/>
                </a:lnTo>
                <a:lnTo>
                  <a:pt x="5584124" y="3340177"/>
                </a:lnTo>
                <a:lnTo>
                  <a:pt x="0" y="33401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TextBox 13"/>
          <p:cNvSpPr txBox="1"/>
          <p:nvPr/>
        </p:nvSpPr>
        <p:spPr>
          <a:xfrm>
            <a:off x="1314724" y="5057775"/>
            <a:ext cx="7137497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71C2B"/>
                </a:solidFill>
                <a:latin typeface="Poppins"/>
                <a:ea typeface="Poppins"/>
                <a:cs typeface="Poppins"/>
                <a:sym typeface="Poppins"/>
              </a:rPr>
              <a:t> CAPSTONE PROJECT</a:t>
            </a:r>
          </a:p>
        </p:txBody>
      </p:sp>
      <p:sp>
        <p:nvSpPr>
          <p:cNvPr id="14" name="TextBox 14"/>
          <p:cNvSpPr txBox="1"/>
          <p:nvPr/>
        </p:nvSpPr>
        <p:spPr>
          <a:xfrm rot="-5400000">
            <a:off x="-748982" y="6629026"/>
            <a:ext cx="2540855" cy="343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3"/>
              </a:lnSpc>
            </a:pPr>
            <a:r>
              <a:rPr lang="en-US" sz="1888" b="1">
                <a:solidFill>
                  <a:srgbClr val="071C2B"/>
                </a:solidFill>
                <a:latin typeface="Poppins Bold"/>
                <a:ea typeface="Poppins Bold"/>
                <a:cs typeface="Poppins Bold"/>
                <a:sym typeface="Poppins Bold"/>
              </a:rPr>
              <a:t> HCL TECH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25568" y="1966157"/>
            <a:ext cx="10097654" cy="2394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72"/>
              </a:lnSpc>
            </a:pPr>
            <a:r>
              <a:rPr lang="en-US" sz="8400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COMPUTER USE AGENT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600201" y="6320848"/>
            <a:ext cx="7010399" cy="2640869"/>
            <a:chOff x="0" y="0"/>
            <a:chExt cx="7959756" cy="1889576"/>
          </a:xfrm>
        </p:grpSpPr>
        <p:sp>
          <p:nvSpPr>
            <p:cNvPr id="17" name="TextBox 17"/>
            <p:cNvSpPr txBox="1"/>
            <p:nvPr/>
          </p:nvSpPr>
          <p:spPr>
            <a:xfrm>
              <a:off x="0" y="-152400"/>
              <a:ext cx="6973205" cy="7922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156"/>
                </a:lnSpc>
                <a:spcBef>
                  <a:spcPct val="0"/>
                </a:spcBef>
              </a:pPr>
              <a:r>
                <a:rPr lang="en-US" sz="3182" dirty="0">
                  <a:solidFill>
                    <a:srgbClr val="071C2B"/>
                  </a:solidFill>
                  <a:latin typeface="Poppins"/>
                  <a:ea typeface="Poppins"/>
                  <a:cs typeface="Poppins"/>
                  <a:sym typeface="Poppins"/>
                </a:rPr>
                <a:t>Rajat Jaiswal  (52346854)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487407"/>
              <a:ext cx="7959756" cy="7926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159"/>
                </a:lnSpc>
                <a:spcBef>
                  <a:spcPct val="0"/>
                </a:spcBef>
              </a:pPr>
              <a:r>
                <a:rPr lang="en-US" sz="3185">
                  <a:solidFill>
                    <a:srgbClr val="071C2B"/>
                  </a:solidFill>
                  <a:latin typeface="Poppins"/>
                  <a:ea typeface="Poppins"/>
                  <a:cs typeface="Poppins"/>
                  <a:sym typeface="Poppins"/>
                </a:rPr>
                <a:t>Shivanshu Kumar ( 52346821)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1118179"/>
              <a:ext cx="6465158" cy="7713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11"/>
                </a:lnSpc>
                <a:spcBef>
                  <a:spcPct val="0"/>
                </a:spcBef>
              </a:pPr>
              <a:r>
                <a:rPr lang="en-US" sz="3031" dirty="0">
                  <a:solidFill>
                    <a:srgbClr val="071C2B"/>
                  </a:solidFill>
                  <a:latin typeface="Poppins"/>
                  <a:ea typeface="Poppins"/>
                  <a:cs typeface="Poppins"/>
                  <a:sym typeface="Poppins"/>
                </a:rPr>
                <a:t>Aryan Singla ( 52346825)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4496569" y="9205971"/>
            <a:ext cx="5494861" cy="748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96"/>
              </a:lnSpc>
              <a:spcBef>
                <a:spcPct val="0"/>
              </a:spcBef>
            </a:pPr>
            <a:r>
              <a:rPr lang="en-US" sz="3701">
                <a:solidFill>
                  <a:srgbClr val="071C2B"/>
                </a:solidFill>
                <a:latin typeface="Poppins"/>
                <a:ea typeface="Poppins"/>
                <a:cs typeface="Poppins"/>
                <a:sym typeface="Poppins"/>
              </a:rPr>
              <a:t>Mentor : M Hari s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3183" y="9121463"/>
            <a:ext cx="136837" cy="136837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1C2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0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13183" y="8824880"/>
            <a:ext cx="136837" cy="13683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1C2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01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13183" y="8528298"/>
            <a:ext cx="136837" cy="13683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1C2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01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 rot="-5400000">
            <a:off x="-139820" y="7573120"/>
            <a:ext cx="1277768" cy="308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7"/>
              </a:lnSpc>
            </a:pPr>
            <a:r>
              <a:rPr lang="en-US" sz="1719" b="1">
                <a:solidFill>
                  <a:srgbClr val="071C2B"/>
                </a:solidFill>
                <a:latin typeface="Poppins Bold"/>
                <a:ea typeface="Poppins Bold"/>
                <a:cs typeface="Poppins Bold"/>
                <a:sym typeface="Poppins Bold"/>
              </a:rPr>
              <a:t> HCL TECH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53433" y="2663723"/>
            <a:ext cx="16644852" cy="4873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8"/>
              </a:lnSpc>
            </a:pPr>
            <a:r>
              <a:rPr lang="en-US" sz="27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Computer Use Agent (CUA) combines LLM reasoning, vision understanding, and real browser automation to perform UI tasks just like a human tester.</a:t>
            </a:r>
          </a:p>
          <a:p>
            <a:pPr algn="l">
              <a:lnSpc>
                <a:spcPts val="3838"/>
              </a:lnSpc>
            </a:pPr>
            <a:r>
              <a:rPr lang="en-US" sz="27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Users simply provide test steps in plain English, and the agent:</a:t>
            </a:r>
          </a:p>
          <a:p>
            <a:pPr marL="591986" lvl="1" indent="-295993" algn="l">
              <a:lnSpc>
                <a:spcPts val="3838"/>
              </a:lnSpc>
              <a:buFont typeface="Arial"/>
              <a:buChar char="•"/>
            </a:pPr>
            <a:r>
              <a:rPr lang="en-US" sz="27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Interprets the instructions</a:t>
            </a:r>
          </a:p>
          <a:p>
            <a:pPr marL="591986" lvl="1" indent="-295993" algn="l">
              <a:lnSpc>
                <a:spcPts val="3838"/>
              </a:lnSpc>
              <a:buFont typeface="Arial"/>
              <a:buChar char="•"/>
            </a:pPr>
            <a:r>
              <a:rPr lang="en-US" sz="27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Interacts with a real browser (click, type, scroll, navigate)</a:t>
            </a:r>
          </a:p>
          <a:p>
            <a:pPr marL="591986" lvl="1" indent="-295993" algn="l">
              <a:lnSpc>
                <a:spcPts val="3838"/>
              </a:lnSpc>
              <a:buFont typeface="Arial"/>
              <a:buChar char="•"/>
            </a:pPr>
            <a:r>
              <a:rPr lang="en-US" sz="27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Evaluates results</a:t>
            </a:r>
          </a:p>
          <a:p>
            <a:pPr marL="591986" lvl="1" indent="-295993" algn="l">
              <a:lnSpc>
                <a:spcPts val="3838"/>
              </a:lnSpc>
              <a:buFont typeface="Arial"/>
              <a:buChar char="•"/>
            </a:pPr>
            <a:r>
              <a:rPr lang="en-US" sz="27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Generates test reports with screenshots</a:t>
            </a:r>
          </a:p>
          <a:p>
            <a:pPr algn="l">
              <a:lnSpc>
                <a:spcPts val="3838"/>
              </a:lnSpc>
            </a:pPr>
            <a:r>
              <a:rPr lang="en-US" sz="27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This enables scriptless automation, reduces manual effort, and improves test coverage.</a:t>
            </a:r>
          </a:p>
          <a:p>
            <a:pPr algn="l">
              <a:lnSpc>
                <a:spcPts val="3838"/>
              </a:lnSpc>
            </a:pPr>
            <a:endParaRPr lang="en-US" sz="2741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838"/>
              </a:lnSpc>
            </a:pPr>
            <a:endParaRPr lang="en-US" sz="2741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" name="Freeform 13"/>
          <p:cNvSpPr/>
          <p:nvPr/>
        </p:nvSpPr>
        <p:spPr>
          <a:xfrm>
            <a:off x="15854815" y="9121463"/>
            <a:ext cx="2193286" cy="1108097"/>
          </a:xfrm>
          <a:custGeom>
            <a:avLst/>
            <a:gdLst/>
            <a:ahLst/>
            <a:cxnLst/>
            <a:rect l="l" t="t" r="r" b="b"/>
            <a:pathLst>
              <a:path w="2193286" h="1108097">
                <a:moveTo>
                  <a:pt x="0" y="0"/>
                </a:moveTo>
                <a:lnTo>
                  <a:pt x="2193286" y="0"/>
                </a:lnTo>
                <a:lnTo>
                  <a:pt x="2193286" y="1108096"/>
                </a:lnTo>
                <a:lnTo>
                  <a:pt x="0" y="11080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9113" b="-5881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TextBox 14"/>
          <p:cNvSpPr txBox="1"/>
          <p:nvPr/>
        </p:nvSpPr>
        <p:spPr>
          <a:xfrm>
            <a:off x="-12913087" y="1110581"/>
            <a:ext cx="30961188" cy="1009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🧭 Overview</a:t>
            </a:r>
          </a:p>
        </p:txBody>
      </p:sp>
    </p:spTree>
  </p:cSld>
  <p:clrMapOvr>
    <a:masterClrMapping/>
  </p:clrMapOvr>
  <p:transition spd="slow">
    <p:cover dir="l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854815" y="9121463"/>
            <a:ext cx="2193286" cy="1108097"/>
          </a:xfrm>
          <a:custGeom>
            <a:avLst/>
            <a:gdLst/>
            <a:ahLst/>
            <a:cxnLst/>
            <a:rect l="l" t="t" r="r" b="b"/>
            <a:pathLst>
              <a:path w="2193286" h="1108097">
                <a:moveTo>
                  <a:pt x="0" y="0"/>
                </a:moveTo>
                <a:lnTo>
                  <a:pt x="2193286" y="0"/>
                </a:lnTo>
                <a:lnTo>
                  <a:pt x="2193286" y="1108096"/>
                </a:lnTo>
                <a:lnTo>
                  <a:pt x="0" y="11080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9113" b="-5881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-855951" y="1761290"/>
            <a:ext cx="9618841" cy="699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7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1. ⏱️ Manual Testing Is Slow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96904" y="2317550"/>
            <a:ext cx="9982002" cy="3032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18"/>
              </a:lnSpc>
            </a:pPr>
            <a:endParaRPr/>
          </a:p>
          <a:p>
            <a:pPr algn="l">
              <a:lnSpc>
                <a:spcPts val="4818"/>
              </a:lnSpc>
              <a:spcBef>
                <a:spcPct val="0"/>
              </a:spcBef>
            </a:pPr>
            <a:r>
              <a:rPr lang="en-US" sz="2974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Execution takes hours for full coverage</a:t>
            </a:r>
          </a:p>
          <a:p>
            <a:pPr algn="l">
              <a:lnSpc>
                <a:spcPts val="4818"/>
              </a:lnSpc>
              <a:spcBef>
                <a:spcPct val="0"/>
              </a:spcBef>
            </a:pPr>
            <a:r>
              <a:rPr lang="en-US" sz="2974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Regression tests are repetitive and resource-heavy</a:t>
            </a:r>
          </a:p>
          <a:p>
            <a:pPr algn="l">
              <a:lnSpc>
                <a:spcPts val="4818"/>
              </a:lnSpc>
              <a:spcBef>
                <a:spcPct val="0"/>
              </a:spcBef>
            </a:pPr>
            <a:r>
              <a:rPr lang="en-US" sz="2974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Hard to scale across many scenarios</a:t>
            </a:r>
          </a:p>
          <a:p>
            <a:pPr algn="l">
              <a:lnSpc>
                <a:spcPts val="4818"/>
              </a:lnSpc>
              <a:spcBef>
                <a:spcPct val="0"/>
              </a:spcBef>
            </a:pPr>
            <a:endParaRPr lang="en-US" sz="2974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196904" y="6465277"/>
            <a:ext cx="15131972" cy="2664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280"/>
              </a:lnSpc>
              <a:spcBef>
                <a:spcPct val="0"/>
              </a:spcBef>
            </a:pPr>
            <a:r>
              <a:rPr lang="en-US" sz="325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Requires coding skills (Selenium, Cypress)</a:t>
            </a:r>
          </a:p>
          <a:p>
            <a:pPr algn="just">
              <a:lnSpc>
                <a:spcPts val="5459"/>
              </a:lnSpc>
              <a:spcBef>
                <a:spcPct val="0"/>
              </a:spcBef>
            </a:pPr>
            <a:r>
              <a:rPr lang="en-US" sz="337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Scripts break easily with UI changes</a:t>
            </a:r>
          </a:p>
          <a:p>
            <a:pPr algn="just">
              <a:lnSpc>
                <a:spcPts val="5280"/>
              </a:lnSpc>
              <a:spcBef>
                <a:spcPct val="0"/>
              </a:spcBef>
            </a:pPr>
            <a:r>
              <a:rPr lang="en-US" sz="325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High maintenance effort</a:t>
            </a:r>
          </a:p>
          <a:p>
            <a:pPr algn="just">
              <a:lnSpc>
                <a:spcPts val="5280"/>
              </a:lnSpc>
              <a:spcBef>
                <a:spcPct val="0"/>
              </a:spcBef>
            </a:pPr>
            <a:endParaRPr lang="en-US" sz="3259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399446" y="5548424"/>
            <a:ext cx="9748121" cy="699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7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2. 🔧 Traditional Automation Has Limits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29349" y="857250"/>
            <a:ext cx="12615454" cy="699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70"/>
              </a:lnSpc>
              <a:spcBef>
                <a:spcPct val="0"/>
              </a:spcBef>
            </a:pPr>
            <a:r>
              <a:rPr lang="en-US" sz="3500" b="1" u="sng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What we are solving ? 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413183" y="9121463"/>
            <a:ext cx="136837" cy="13683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1C2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01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13183" y="8824880"/>
            <a:ext cx="136837" cy="13683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1C2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01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13183" y="8528298"/>
            <a:ext cx="136837" cy="136837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1C2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01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 rot="-5400000">
            <a:off x="-748982" y="6629026"/>
            <a:ext cx="2540855" cy="343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3"/>
              </a:lnSpc>
            </a:pPr>
            <a:r>
              <a:rPr lang="en-US" sz="1888" b="1">
                <a:solidFill>
                  <a:srgbClr val="071C2B"/>
                </a:solidFill>
                <a:latin typeface="Poppins Bold"/>
                <a:ea typeface="Poppins Bold"/>
                <a:cs typeface="Poppins Bold"/>
                <a:sym typeface="Poppins Bold"/>
              </a:rPr>
              <a:t> HCL TECH</a:t>
            </a:r>
          </a:p>
        </p:txBody>
      </p:sp>
    </p:spTree>
  </p:cSld>
  <p:clrMapOvr>
    <a:masterClrMapping/>
  </p:clrMapOvr>
  <p:transition spd="slow">
    <p:cover dir="l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546063"/>
            <a:ext cx="13381127" cy="7292714"/>
          </a:xfrm>
          <a:custGeom>
            <a:avLst/>
            <a:gdLst/>
            <a:ahLst/>
            <a:cxnLst/>
            <a:rect l="l" t="t" r="r" b="b"/>
            <a:pathLst>
              <a:path w="13381127" h="7292714">
                <a:moveTo>
                  <a:pt x="0" y="0"/>
                </a:moveTo>
                <a:lnTo>
                  <a:pt x="13381127" y="0"/>
                </a:lnTo>
                <a:lnTo>
                  <a:pt x="13381127" y="7292714"/>
                </a:lnTo>
                <a:lnTo>
                  <a:pt x="0" y="72927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413183" y="9121463"/>
            <a:ext cx="136837" cy="136837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1C2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01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13183" y="8824880"/>
            <a:ext cx="136837" cy="13683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1C2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01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13183" y="8528298"/>
            <a:ext cx="136837" cy="136837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1C2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01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 rot="-5400000">
            <a:off x="-748982" y="6629026"/>
            <a:ext cx="2540855" cy="343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3"/>
              </a:lnSpc>
            </a:pPr>
            <a:r>
              <a:rPr lang="en-US" sz="1888" b="1">
                <a:solidFill>
                  <a:srgbClr val="071C2B"/>
                </a:solidFill>
                <a:latin typeface="Poppins Bold"/>
                <a:ea typeface="Poppins Bold"/>
                <a:cs typeface="Poppins Bold"/>
                <a:sym typeface="Poppins Bold"/>
              </a:rPr>
              <a:t> HCL TECH</a:t>
            </a:r>
          </a:p>
        </p:txBody>
      </p:sp>
      <p:sp>
        <p:nvSpPr>
          <p:cNvPr id="13" name="Freeform 13"/>
          <p:cNvSpPr/>
          <p:nvPr/>
        </p:nvSpPr>
        <p:spPr>
          <a:xfrm>
            <a:off x="15854815" y="9121463"/>
            <a:ext cx="2193286" cy="1108097"/>
          </a:xfrm>
          <a:custGeom>
            <a:avLst/>
            <a:gdLst/>
            <a:ahLst/>
            <a:cxnLst/>
            <a:rect l="l" t="t" r="r" b="b"/>
            <a:pathLst>
              <a:path w="2193286" h="1108097">
                <a:moveTo>
                  <a:pt x="0" y="0"/>
                </a:moveTo>
                <a:lnTo>
                  <a:pt x="2193286" y="0"/>
                </a:lnTo>
                <a:lnTo>
                  <a:pt x="2193286" y="1108096"/>
                </a:lnTo>
                <a:lnTo>
                  <a:pt x="0" y="11080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9113" b="-58818"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</Words>
  <Application>Microsoft Office PowerPoint</Application>
  <PresentationFormat>Custom</PresentationFormat>
  <Paragraphs>29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Poppins Semi-Bold</vt:lpstr>
      <vt:lpstr>Calibri</vt:lpstr>
      <vt:lpstr>Aptos</vt:lpstr>
      <vt:lpstr>Poppins</vt:lpstr>
      <vt:lpstr>Poppins Bold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 REVIEW</dc:title>
  <dc:creator>Rajat Jaiswal</dc:creator>
  <cp:lastModifiedBy>Rajat Jaiswal</cp:lastModifiedBy>
  <cp:revision>2</cp:revision>
  <dcterms:created xsi:type="dcterms:W3CDTF">2006-08-16T00:00:00Z</dcterms:created>
  <dcterms:modified xsi:type="dcterms:W3CDTF">2025-11-27T10:33:38Z</dcterms:modified>
  <dc:identifier>DAG5QHdFOWU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8d76c601-11fc-4c01-b11e-f9d44e994638</vt:lpwstr>
  </property>
  <property fmtid="{D5CDD505-2E9C-101B-9397-08002B2CF9AE}" pid="3" name="HCLClassD6">
    <vt:lpwstr>False</vt:lpwstr>
  </property>
  <property fmtid="{D5CDD505-2E9C-101B-9397-08002B2CF9AE}" pid="4" name="HCLClassification">
    <vt:lpwstr>HCL_Cla5s_Publ1c</vt:lpwstr>
  </property>
</Properties>
</file>